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Calibri"/>
              </a:rPr>
              <a:t>Revenue by Product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8792F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Coffee</c:v>
                  </c:pt>
                  <c:pt idx="1">
                    <c:v>Tea</c:v>
                  </c:pt>
                  <c:pt idx="2">
                    <c:v>Bakery</c:v>
                  </c:pt>
                  <c:pt idx="3">
                    <c:v>Drinking Chocolate</c:v>
                  </c:pt>
                  <c:pt idx="4">
                    <c:v>Coffee beans</c:v>
                  </c:pt>
                  <c:pt idx="5">
                    <c:v>Branded</c:v>
                  </c:pt>
                  <c:pt idx="6">
                    <c:v>Loose Tea</c:v>
                  </c:pt>
                  <c:pt idx="7">
                    <c:v>Flavours</c:v>
                  </c:pt>
                  <c:pt idx="8">
                    <c:v>Packaged Chocolate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269952.45</c:v>
                </c:pt>
                <c:pt idx="1">
                  <c:v>196405.95</c:v>
                </c:pt>
                <c:pt idx="2">
                  <c:v>82315.64</c:v>
                </c:pt>
                <c:pt idx="3">
                  <c:v>72416</c:v>
                </c:pt>
                <c:pt idx="4">
                  <c:v>40085.25</c:v>
                </c:pt>
                <c:pt idx="5">
                  <c:v>13607</c:v>
                </c:pt>
                <c:pt idx="6">
                  <c:v>11213.6</c:v>
                </c:pt>
                <c:pt idx="7">
                  <c:v>8408.8</c:v>
                </c:pt>
                <c:pt idx="8">
                  <c:v>4407.64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FEBE2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Calibri"/>
              </a:rPr>
              <a:t>Top 10 Product Types by Revenue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B2A41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Barista Espresso</c:v>
                  </c:pt>
                  <c:pt idx="1">
                    <c:v>Brewed Chai tea</c:v>
                  </c:pt>
                  <c:pt idx="2">
                    <c:v>Hot chocolate</c:v>
                  </c:pt>
                  <c:pt idx="3">
                    <c:v>Gourmet brewed coffee</c:v>
                  </c:pt>
                  <c:pt idx="4">
                    <c:v>Brewed Black tea</c:v>
                  </c:pt>
                  <c:pt idx="5">
                    <c:v>Brewed herbal tea</c:v>
                  </c:pt>
                  <c:pt idx="6">
                    <c:v>Premium brewed coffee</c:v>
                  </c:pt>
                  <c:pt idx="7">
                    <c:v>Organic brewed coffee</c:v>
                  </c:pt>
                  <c:pt idx="8">
                    <c:v>Scone</c:v>
                  </c:pt>
                  <c:pt idx="9">
                    <c:v>Drip coffee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91406.2</c:v>
                </c:pt>
                <c:pt idx="1">
                  <c:v>77081.95</c:v>
                </c:pt>
                <c:pt idx="2">
                  <c:v>72416</c:v>
                </c:pt>
                <c:pt idx="3">
                  <c:v>70034.6</c:v>
                </c:pt>
                <c:pt idx="4">
                  <c:v>47932</c:v>
                </c:pt>
                <c:pt idx="5">
                  <c:v>47539.5</c:v>
                </c:pt>
                <c:pt idx="6">
                  <c:v>38781.15</c:v>
                </c:pt>
                <c:pt idx="7">
                  <c:v>37746.5</c:v>
                </c:pt>
                <c:pt idx="8">
                  <c:v>36866.12</c:v>
                </c:pt>
                <c:pt idx="9">
                  <c:v>31984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FEBE2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Calibri"/>
              </a:rPr>
              <a:t>Revenue by Hour of Day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9D3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D3E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792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792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792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792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9D3E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9D3E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9D3E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9D3E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9D3E0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C9D3E0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C9D3E0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C9D3E0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C9D3E0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C9D3E0"/>
              </a:solidFill>
              <a:effectLst/>
            </c:spPr>
          </c:dPt>
          <c:cat>
            <c:multiLvlStrRef>
              <c:f>Sheet1!$A$2:$A$16</c:f>
              <c:multiLvlStrCache>
                <c:ptCount val="15"/>
                <c:lvl>
                  <c:pt idx="0">
                    <c:v>6am</c:v>
                  </c:pt>
                  <c:pt idx="1">
                    <c:v>7am</c:v>
                  </c:pt>
                  <c:pt idx="2">
                    <c:v>8am</c:v>
                  </c:pt>
                  <c:pt idx="3">
                    <c:v>9am</c:v>
                  </c:pt>
                  <c:pt idx="4">
                    <c:v>10am</c:v>
                  </c:pt>
                  <c:pt idx="5">
                    <c:v>11am</c:v>
                  </c:pt>
                  <c:pt idx="6">
                    <c:v>12pm</c:v>
                  </c:pt>
                  <c:pt idx="7">
                    <c:v>1pm</c:v>
                  </c:pt>
                  <c:pt idx="8">
                    <c:v>2pm</c:v>
                  </c:pt>
                  <c:pt idx="9">
                    <c:v>3pm</c:v>
                  </c:pt>
                  <c:pt idx="10">
                    <c:v>4pm</c:v>
                  </c:pt>
                  <c:pt idx="11">
                    <c:v>5pm</c:v>
                  </c:pt>
                  <c:pt idx="12">
                    <c:v>6pm</c:v>
                  </c:pt>
                  <c:pt idx="13">
                    <c:v>7pm</c:v>
                  </c:pt>
                  <c:pt idx="14">
                    <c:v>8pm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21900.27</c:v>
                </c:pt>
                <c:pt idx="1">
                  <c:v>63526.47</c:v>
                </c:pt>
                <c:pt idx="2">
                  <c:v>82699.87</c:v>
                </c:pt>
                <c:pt idx="3">
                  <c:v>85169.53</c:v>
                </c:pt>
                <c:pt idx="4">
                  <c:v>88673.39</c:v>
                </c:pt>
                <c:pt idx="5">
                  <c:v>46319.14</c:v>
                </c:pt>
                <c:pt idx="6">
                  <c:v>40192.79</c:v>
                </c:pt>
                <c:pt idx="7">
                  <c:v>40367.45</c:v>
                </c:pt>
                <c:pt idx="8">
                  <c:v>41304.74</c:v>
                </c:pt>
                <c:pt idx="9">
                  <c:v>41733.1</c:v>
                </c:pt>
                <c:pt idx="10">
                  <c:v>41122.75</c:v>
                </c:pt>
                <c:pt idx="11">
                  <c:v>40134.31</c:v>
                </c:pt>
                <c:pt idx="12">
                  <c:v>34286.2</c:v>
                </c:pt>
                <c:pt idx="13">
                  <c:v>28446.68</c:v>
                </c:pt>
                <c:pt idx="14">
                  <c:v>2935.64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FEBE2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Calibri"/>
              </a:rPr>
              <a:t>Monthly Revenue by Store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rgbClr val="2A78D6"/>
            </a:solidFill>
            <a:ln w="3175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27313.66</c:v>
                </c:pt>
                <c:pt idx="1">
                  <c:v>25105.34</c:v>
                </c:pt>
                <c:pt idx="2">
                  <c:v>32835.43</c:v>
                </c:pt>
                <c:pt idx="3">
                  <c:v>39477.61</c:v>
                </c:pt>
                <c:pt idx="4">
                  <c:v>52428.76</c:v>
                </c:pt>
                <c:pt idx="5">
                  <c:v>55083.11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rgbClr val="E8792F"/>
            </a:solidFill>
            <a:ln w="31750" cap="flat">
              <a:solidFill>
                <a:srgbClr val="E879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792F"/>
              </a:solidFill>
              <a:ln w="9525" cap="flat">
                <a:solidFill>
                  <a:srgbClr val="E879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27820.65</c:v>
                </c:pt>
                <c:pt idx="1">
                  <c:v>25719.8</c:v>
                </c:pt>
                <c:pt idx="2">
                  <c:v>33110.57</c:v>
                </c:pt>
                <c:pt idx="3">
                  <c:v>40304.14</c:v>
                </c:pt>
                <c:pt idx="4">
                  <c:v>52598.93</c:v>
                </c:pt>
                <c:pt idx="5">
                  <c:v>56957.08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rgbClr val="2F9E6E"/>
            </a:solidFill>
            <a:ln w="31750" cap="flat">
              <a:solidFill>
                <a:srgbClr val="2F9E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9E6E"/>
              </a:solidFill>
              <a:ln w="9525" cap="flat">
                <a:solidFill>
                  <a:srgbClr val="2F9E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26543.43</c:v>
                </c:pt>
                <c:pt idx="1">
                  <c:v>25320.05</c:v>
                </c:pt>
                <c:pt idx="2">
                  <c:v>32888.68</c:v>
                </c:pt>
                <c:pt idx="3">
                  <c:v>39159.33</c:v>
                </c:pt>
                <c:pt idx="4">
                  <c:v>51700.07</c:v>
                </c:pt>
                <c:pt idx="5">
                  <c:v>54445.69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FEBE2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Calibri"/>
              </a:rPr>
              <a:t>Revenue by Category &amp; Time Bucket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Coffee</c:v>
                </c:pt>
              </c:strCache>
            </c:strRef>
          </c:tx>
          <c:spPr>
            <a:solidFill>
              <a:srgbClr val="1B2A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Early Morning</c:v>
                  </c:pt>
                  <c:pt idx="1">
                    <c:v>Late Morning</c:v>
                  </c:pt>
                  <c:pt idx="2">
                    <c:v>Mid-day</c:v>
                  </c:pt>
                  <c:pt idx="3">
                    <c:v>Afternoon</c:v>
                  </c:pt>
                  <c:pt idx="4">
                    <c:v>Evening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92986.55</c:v>
                </c:pt>
                <c:pt idx="1">
                  <c:v>51485.25</c:v>
                </c:pt>
                <c:pt idx="2">
                  <c:v>49509.2</c:v>
                </c:pt>
                <c:pt idx="3">
                  <c:v>50126.25</c:v>
                </c:pt>
                <c:pt idx="4">
                  <c:v>25845.2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Tea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Early Morning</c:v>
                  </c:pt>
                  <c:pt idx="1">
                    <c:v>Late Morning</c:v>
                  </c:pt>
                  <c:pt idx="2">
                    <c:v>Mid-day</c:v>
                  </c:pt>
                  <c:pt idx="3">
                    <c:v>Afternoon</c:v>
                  </c:pt>
                  <c:pt idx="4">
                    <c:v>Evening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68877.95</c:v>
                </c:pt>
                <c:pt idx="1">
                  <c:v>35732.5</c:v>
                </c:pt>
                <c:pt idx="2">
                  <c:v>36119.5</c:v>
                </c:pt>
                <c:pt idx="3">
                  <c:v>35896.85</c:v>
                </c:pt>
                <c:pt idx="4">
                  <c:v>19779.15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Bakery</c:v>
                </c:pt>
              </c:strCache>
            </c:strRef>
          </c:tx>
          <c:spPr>
            <a:solidFill>
              <a:srgbClr val="E879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Early Morning</c:v>
                  </c:pt>
                  <c:pt idx="1">
                    <c:v>Late Morning</c:v>
                  </c:pt>
                  <c:pt idx="2">
                    <c:v>Mid-day</c:v>
                  </c:pt>
                  <c:pt idx="3">
                    <c:v>Afternoon</c:v>
                  </c:pt>
                  <c:pt idx="4">
                    <c:v>Evening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31568.14</c:v>
                </c:pt>
                <c:pt idx="1">
                  <c:v>16594.56</c:v>
                </c:pt>
                <c:pt idx="2">
                  <c:v>13341.98</c:v>
                </c:pt>
                <c:pt idx="3">
                  <c:v>13846.33</c:v>
                </c:pt>
                <c:pt idx="4">
                  <c:v>6964.63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Drinking Chocolate</c:v>
                </c:pt>
              </c:strCache>
            </c:strRef>
          </c:tx>
          <c:spPr>
            <a:solidFill>
              <a:srgbClr val="2F9E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Early Morning</c:v>
                  </c:pt>
                  <c:pt idx="1">
                    <c:v>Late Morning</c:v>
                  </c:pt>
                  <c:pt idx="2">
                    <c:v>Mid-day</c:v>
                  </c:pt>
                  <c:pt idx="3">
                    <c:v>Afternoon</c:v>
                  </c:pt>
                  <c:pt idx="4">
                    <c:v>Evening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25231.25</c:v>
                </c:pt>
                <c:pt idx="1">
                  <c:v>12924.25</c:v>
                </c:pt>
                <c:pt idx="2">
                  <c:v>13469</c:v>
                </c:pt>
                <c:pt idx="3">
                  <c:v>13626.75</c:v>
                </c:pt>
                <c:pt idx="4">
                  <c:v>7164.75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Coffee beans</c:v>
                </c:pt>
              </c:strCache>
            </c:strRef>
          </c:tx>
          <c:spPr>
            <a:solidFill>
              <a:srgbClr val="C9C2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Early Morning</c:v>
                  </c:pt>
                  <c:pt idx="1">
                    <c:v>Late Morning</c:v>
                  </c:pt>
                  <c:pt idx="2">
                    <c:v>Mid-day</c:v>
                  </c:pt>
                  <c:pt idx="3">
                    <c:v>Afternoon</c:v>
                  </c:pt>
                  <c:pt idx="4">
                    <c:v>Evening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17274.65</c:v>
                </c:pt>
                <c:pt idx="1">
                  <c:v>10903.9</c:v>
                </c:pt>
                <c:pt idx="2">
                  <c:v>4524.75</c:v>
                </c:pt>
                <c:pt idx="3">
                  <c:v>4374.7</c:v>
                </c:pt>
                <c:pt idx="4">
                  <c:v>3007.25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FEBE2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0"/>
            <a:ext cx="12188952" cy="1508760"/>
          </a:xfrm>
          <a:prstGeom prst="rect">
            <a:avLst/>
          </a:prstGeom>
          <a:solidFill>
            <a:srgbClr val="243B57"/>
          </a:solidFill>
          <a:ln w="12700">
            <a:solidFill>
              <a:srgbClr val="243B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48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Analysis &amp; Growth Insights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611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CEO  ·  January – June 2023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486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7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$698.8K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29000" y="5486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7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149,116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29000" y="6035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26480" y="5486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7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126480" y="6035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Locations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23960" y="5486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7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+104%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823960" y="6035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Jan→Jun Growth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nearly doubled over six months, growing steadily and almost identically across all three stores — a strong, repeatable pattern the CEO can build 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7F8FA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65960"/>
            <a:ext cx="73152" cy="1920240"/>
          </a:xfrm>
          <a:prstGeom prst="rect">
            <a:avLst/>
          </a:prstGeom>
          <a:solidFill>
            <a:srgbClr val="E8792F"/>
          </a:solidFill>
          <a:ln w="12700">
            <a:solidFill>
              <a:srgbClr val="E879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402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$698,812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Jun 2023, all 3 stores combined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196596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7F8FA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965960"/>
            <a:ext cx="73152" cy="1920240"/>
          </a:xfrm>
          <a:prstGeom prst="rect">
            <a:avLst/>
          </a:prstGeom>
          <a:solidFill>
            <a:srgbClr val="E8792F"/>
          </a:solidFill>
          <a:ln w="12700">
            <a:solidFill>
              <a:srgbClr val="E879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22402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149,116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11880" y="28803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11880" y="32461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value: $4.69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96596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7F8FA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965960"/>
            <a:ext cx="73152" cy="1920240"/>
          </a:xfrm>
          <a:prstGeom prst="rect">
            <a:avLst/>
          </a:prstGeom>
          <a:solidFill>
            <a:srgbClr val="E8792F"/>
          </a:solidFill>
          <a:ln w="12700">
            <a:solidFill>
              <a:srgbClr val="E879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2402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214,470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46520" y="28803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32461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29 product types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52560" y="196596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7F8FA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52560" y="1965960"/>
            <a:ext cx="73152" cy="1920240"/>
          </a:xfrm>
          <a:prstGeom prst="rect">
            <a:avLst/>
          </a:prstGeom>
          <a:solidFill>
            <a:srgbClr val="E8792F"/>
          </a:solidFill>
          <a:ln w="12700">
            <a:solidFill>
              <a:srgbClr val="E879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81160" y="22402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+104%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281160" y="28803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81160" y="32461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$81.7K (Jan) to $166.5K (Jun)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251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answers four questions: which products drive revenue, what time of day performs best, how sales trend across products and time, and what to do next.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·  Sales Analysis  ·  Jan–Jun 2023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Products Generate the Most Revenue?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and Tea are the backbone of the business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6304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463040"/>
            <a:ext cx="4160520" cy="2103120"/>
          </a:xfrm>
          <a:prstGeom prst="roundRect">
            <a:avLst>
              <a:gd name="adj" fmla="val 3478"/>
            </a:avLst>
          </a:prstGeom>
          <a:solidFill>
            <a:srgbClr val="FBE6D6"/>
          </a:solidFill>
          <a:ln w="12700">
            <a:solidFill>
              <a:srgbClr val="FBE6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0" y="15727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80960" y="1847088"/>
            <a:ext cx="37947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alone generates $270K (39% of revenue) and Tea another $196K — together nearly two-thirds of all sales. Everything else (bakery, chocolate, beans, merch) is incremental to the core drink business.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498080" y="3749040"/>
            <a:ext cx="4160520" cy="2194560"/>
          </a:xfrm>
          <a:prstGeom prst="roundRect">
            <a:avLst>
              <a:gd name="adj" fmla="val 3333"/>
            </a:avLst>
          </a:prstGeom>
          <a:solidFill>
            <a:srgbClr val="FBE6D6"/>
          </a:solidFill>
          <a:ln w="12700">
            <a:solidFill>
              <a:srgbClr val="FBE6D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0" y="38587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680960" y="4133088"/>
            <a:ext cx="37947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is fundamentally a beverage business. Retail add-ons (beans, branded merch) are a small but real upsell opportunity — currently under 3% of revenue combined.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·  Sales Analysis  ·  Jan–Jun 2023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Top-Performing Products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Espresso drinks dominate the product mix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6304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498080" y="146304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Best-selling individual items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498080" y="1874520"/>
            <a:ext cx="4160520" cy="502920"/>
          </a:xfrm>
          <a:prstGeom prst="roundRect">
            <a:avLst>
              <a:gd name="adj" fmla="val 9091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35240" y="18745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Sustainably Grown Organic Lg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424160" y="1874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$21,152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98080" y="2423160"/>
            <a:ext cx="41605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5240" y="24231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chocolate Lg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424160" y="2423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$21,006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98080" y="2971800"/>
            <a:ext cx="4160520" cy="502920"/>
          </a:xfrm>
          <a:prstGeom prst="roundRect">
            <a:avLst>
              <a:gd name="adj" fmla="val 9091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35240" y="29718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Latte Rg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424160" y="29718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$19,112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498080" y="3520440"/>
            <a:ext cx="41605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35240" y="35204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Cappuccino Lg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424160" y="35204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$17,642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498080" y="4069080"/>
            <a:ext cx="4160520" cy="502920"/>
          </a:xfrm>
          <a:prstGeom prst="roundRect">
            <a:avLst>
              <a:gd name="adj" fmla="val 9091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0690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Sunrise Chai Lg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424160" y="40690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$17,384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498080" y="4709160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FBE6D6"/>
          </a:solidFill>
          <a:ln w="12700">
            <a:solidFill>
              <a:srgbClr val="FBE6D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80960" y="48188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680960" y="5093208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Barista Espresso is the single top type, earning more than double the next category — the espresso machine is the revenue engine of the business.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·  Sales Analysis  ·  Jan–Jun 2023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Time of Day Performs Best?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morning rush (7–10am) drives the day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63040"/>
          <a:ext cx="7406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0" y="146304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BE6D6"/>
          </a:solidFill>
          <a:ln w="12700">
            <a:solidFill>
              <a:srgbClr val="FBE6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0" y="157276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412480" y="1847088"/>
            <a:ext cx="30632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7–10am alone brings in $320K — nearly half of all revenue — in just 4 of the 15 open hours. Revenue falls off steadily after 11am and is minimal past 7pm.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0" y="3977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BE6D6"/>
          </a:solidFill>
          <a:ln w="12700">
            <a:solidFill>
              <a:srgbClr val="FBE6D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0" y="408736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412480" y="4361688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staffing, stock, and speed of service have outsized impact on daily revenue. A slow morning line costs more than a slow afternoon.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·  Sales Analysis  ·  Jan–Jun 2023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Trends Over Time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nearly doubled Jan→Jun, in lockstep across all 3 stores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63040"/>
          <a:ext cx="78638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595360" y="1463040"/>
            <a:ext cx="3063240" cy="2377440"/>
          </a:xfrm>
          <a:prstGeom prst="roundRect">
            <a:avLst>
              <a:gd name="adj" fmla="val 3077"/>
            </a:avLst>
          </a:prstGeom>
          <a:solidFill>
            <a:srgbClr val="FBE6D6"/>
          </a:solidFill>
          <a:ln w="12700">
            <a:solidFill>
              <a:srgbClr val="FBE6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0" y="157276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778240" y="1847088"/>
            <a:ext cx="26974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stores grew almost identically — no single location is an outlier. This is broad-based, repeatable growth, not one store carrying the chain.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595360" y="3977640"/>
            <a:ext cx="3063240" cy="1965960"/>
          </a:xfrm>
          <a:prstGeom prst="roundRect">
            <a:avLst>
              <a:gd name="adj" fmla="val 3721"/>
            </a:avLst>
          </a:prstGeom>
          <a:solidFill>
            <a:srgbClr val="FBE6D6"/>
          </a:solidFill>
          <a:ln w="12700">
            <a:solidFill>
              <a:srgbClr val="FBE6D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0" y="408736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778240" y="4361688"/>
            <a:ext cx="2697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is driving growth (seasonality, demand, marketing) is working consistently. Any new location should expect similar performance.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·  Sales Analysis  ·  Jan–Jun 2023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Trends Across Products &amp; Time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category follows the same morning-heavy rhythm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63040"/>
          <a:ext cx="78638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595360" y="1463040"/>
            <a:ext cx="3063240" cy="2377440"/>
          </a:xfrm>
          <a:prstGeom prst="roundRect">
            <a:avLst>
              <a:gd name="adj" fmla="val 3077"/>
            </a:avLst>
          </a:prstGeom>
          <a:solidFill>
            <a:srgbClr val="FBE6D6"/>
          </a:solidFill>
          <a:ln w="12700">
            <a:solidFill>
              <a:srgbClr val="FBE6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0" y="157276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778240" y="1847088"/>
            <a:ext cx="26974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and Tea dominate every time slot, but Bakery and Coffee Beans drop off fastest after the morning — they're impulse add-ons to a coffee order, not destination purchases.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595360" y="3977640"/>
            <a:ext cx="3063240" cy="1965960"/>
          </a:xfrm>
          <a:prstGeom prst="roundRect">
            <a:avLst>
              <a:gd name="adj" fmla="val 3721"/>
            </a:avLst>
          </a:prstGeom>
          <a:solidFill>
            <a:srgbClr val="FBE6D6"/>
          </a:solidFill>
          <a:ln w="12700">
            <a:solidFill>
              <a:srgbClr val="FBE6D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0" y="408736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778240" y="4361688"/>
            <a:ext cx="2697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slots are the biggest opportunity to grow underused categories like bakery and chocolate.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·  Sales Analysis  ·  Jan–Jun 2023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moves that follow directly from the 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7F8FA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FBE6D6"/>
          </a:solidFill>
          <a:ln w="12700">
            <a:solidFill>
              <a:srgbClr val="FBE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7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&amp; stock for the morning rush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7–10am drives ~46% of daily revenue. Guarantee peak staffing, pre-batched drinks, and full stock of top espresso items before doors open.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50876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7F8FA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783080"/>
            <a:ext cx="502920" cy="502920"/>
          </a:xfrm>
          <a:prstGeom prst="ellipse">
            <a:avLst/>
          </a:prstGeom>
          <a:solidFill>
            <a:srgbClr val="FBE6D6"/>
          </a:solidFill>
          <a:ln w="12700">
            <a:solidFill>
              <a:srgbClr val="FBE6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7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17720" y="24688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slow categories in the afternoon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333756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Bakery, tea, and chocolate fall off sharply after midday. Use afternoon bundles or loyalty multipliers to lift categories riding on morning coffee traffic alone.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50876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7F8FA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1783080"/>
            <a:ext cx="502920" cy="502920"/>
          </a:xfrm>
          <a:prstGeom prst="ellipse">
            <a:avLst/>
          </a:prstGeom>
          <a:solidFill>
            <a:srgbClr val="FBE6D6"/>
          </a:solidFill>
          <a:ln w="12700">
            <a:solidFill>
              <a:srgbClr val="FBE6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7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12480" y="24688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proven pattern, not a guess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0" y="333756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stores grew ~104% in lockstep. Use this as the playbook for a 4th location, rather than assuming new performance from scratch.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·  Sales Analysis  ·  Jan–Jun 2023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 this analysis going forward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20240"/>
            <a:ext cx="594360" cy="59436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91640" y="17647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daily sales reporting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91640" y="216712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manual exports to a live dashboard so the CEO and store managers see performance in real time, not weeks later.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83280"/>
            <a:ext cx="594360" cy="59436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383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91640" y="322783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performance across future locations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91640" y="363016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Bright Coffee expands, monitor each new store against the growth pattern seen here to catch underperformance early.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846320"/>
            <a:ext cx="594360" cy="59436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846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91640" y="46908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loyalty program around peak hours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91640" y="509320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customers for visiting during the 7–10am window, and use off-peak incentives to smooth demand into slower afternoon hours.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·  Sales Analysis  ·  Jan–Jun 2023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520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 how to act on these insights.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4114800"/>
            <a:ext cx="1280160" cy="54864"/>
          </a:xfrm>
          <a:prstGeom prst="rect">
            <a:avLst/>
          </a:prstGeom>
          <a:solidFill>
            <a:srgbClr val="E8792F"/>
          </a:solidFill>
          <a:ln w="12700">
            <a:solidFill>
              <a:srgbClr val="E879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343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the Data Analytics Team  ·  Bright Coffee Shop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2026-08-02T08:22:43Z</dcterms:created>
  <dcterms:modified xsi:type="dcterms:W3CDTF">2026-08-02T08:22:43Z</dcterms:modified>
</cp:coreProperties>
</file>